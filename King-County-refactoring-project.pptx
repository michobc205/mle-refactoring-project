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00f927b-f28e-b637-5b1f-04bccadd3b3f}">
          <p14:sldIdLst>
            <p14:sldId id="256"/>
          </p14:sldIdLst>
        </p14:section>
        <p14:section name="The work" id="{eeb73e23-7e44-1248-370f-12587f120885}">
          <p14:sldIdLst>
            <p14:sldId id="257"/>
            <p14:sldId id="258"/>
            <p14:sldId id="259"/>
            <p14:sldId id="260"/>
            <p14:sldId id="261"/>
          </p14:sldIdLst>
        </p14:section>
        <p14:section name="Results" id="{8f4eab8d-b8cc-26d4-3c86-a3533c9f2711}">
          <p14:sldIdLst>
            <p14:sldId id="262"/>
          </p14:sldIdLst>
        </p14:section>
        <p14:section name="The three questions" id="{8626f697-36bd-d3d2-7863-e3649049a3c1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22F"/>
                </a:solidFill>
                <a:latin typeface="+mn-lt"/>
              </a:rPr>
              <a:t>Model scores of both notebooks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0.0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Test R², regularized</c:v>
                  </c:pt>
                  <c:pt idx="1">
                    <c:v>Adj. R², polynomial</c:v>
                  </c:pt>
                  <c:pt idx="2">
                    <c:v>Adj. R², grade and year</c:v>
                  </c:pt>
                  <c:pt idx="3">
                    <c:v>Adj. R², grade only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0.844</c:v>
                </c:pt>
                <c:pt idx="1">
                  <c:v>0.75</c:v>
                </c:pt>
                <c:pt idx="2">
                  <c:v>0.48</c:v>
                </c:pt>
                <c:pt idx="3">
                  <c:v>0.43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Refactored</c:v>
                </c:pt>
              </c:strCache>
            </c:strRef>
          </c:tx>
          <c:spPr>
            <a:solidFill>
              <a:srgbClr val="F28F3B"/>
            </a:solidFill>
            <a:effectLst/>
          </c:spPr>
          <c:invertIfNegative val="0"/>
          <c:dLbls>
            <c:numFmt formatCode="0.0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Test R², regularized</c:v>
                  </c:pt>
                  <c:pt idx="1">
                    <c:v>Adj. R², polynomial</c:v>
                  </c:pt>
                  <c:pt idx="2">
                    <c:v>Adj. R², grade and year</c:v>
                  </c:pt>
                  <c:pt idx="3">
                    <c:v>Adj. R², grade only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0.844</c:v>
                </c:pt>
                <c:pt idx="1">
                  <c:v>0.75</c:v>
                </c:pt>
                <c:pt idx="2">
                  <c:v>0.48</c:v>
                </c:pt>
                <c:pt idx="3">
                  <c:v>0.43</c:v>
                </c:pt>
              </c:numCache>
            </c:numRef>
          </c:val>
        </c:ser>
        <c:dLbls>
          <c:numFmt formatCode="0.00#" sourceLinked="0"/>
          <c:txPr>
            <a:bodyPr/>
            <a:lstStyle/>
            <a:p>
              <a:pPr>
                <a:defRPr b="0" i="0" strike="noStrike" sz="1200" u="none">
                  <a:solidFill>
                    <a:srgbClr val="1022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2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5DEE3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2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project: refactor the King County notebook. The cleaning and the feature engineering become tested functions in Python files, and one pipeline joins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read the notebook, refactor it into functions in Python files, and connect them in one pipeline with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facts about the original notebook: 133 cells, a hard-coded row number, about three million single calculations in the loops, and no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flows: raw data, clean_data in cleaning.py, add_features in features.py, then X and y from pipeline.py. 24 tests check the functions. The refactored notebook calls the same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cleaning functions. After cleaning there are 21,596 rows and no missing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new features. The water distance reference points come from the waterfront houses and can be reused for new 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notebooks give identical scores: adjusted R² 0.43, 0.48 and 0.75, and test R² 0.844. The run time comparison is from a test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steps, from reading the notebook to comparing the model scores of both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challenges: a fixed row number, slow loops, new houses without a price, and proving that nothing changed. The timing is from a test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more time: the model in the pipeline, the FastAPI app with Docker Compose, automatic tests, splitting the data before the features, and Pydantic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King County refactoring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use 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House icon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365760" cy="36576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County House Prices</a:t>
            </a:r>
            <a:endParaRPr lang="en-US" sz="44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 project</a:t>
            </a:r>
            <a:endParaRPr lang="en-US" sz="2800" dirty="0"/>
          </a:p>
        </p:txBody>
      </p:sp>
      <p:sp>
        <p:nvSpPr>
          <p:cNvPr id="6" name="Description"/>
          <p:cNvSpPr txBox="1"/>
          <p:nvPr/>
        </p:nvSpPr>
        <p:spPr>
          <a:xfrm>
            <a:off x="54864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One long notebook becomes tested, reusable Python code: the data cleaning and the feature engineering move into functions, and one pipeline joins them.</a:t>
            </a:r>
            <a:endParaRPr lang="en-US" sz="1800" dirty="0"/>
          </a:p>
        </p:txBody>
      </p:sp>
      <p:sp>
        <p:nvSpPr>
          <p:cNvPr id="7" name="Author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Michel Mghames  |  neuefische MLE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task in three steps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project asks for a refactoring: take one long notebook and turn it into clean code that can be reused and tested.</a:t>
            </a:r>
            <a:endParaRPr lang="en-US" sz="1600" dirty="0"/>
          </a:p>
        </p:txBody>
      </p:sp>
      <p:sp>
        <p:nvSpPr>
          <p:cNvPr id="4" name="Step card 1"/>
          <p:cNvSpPr/>
          <p:nvPr/>
        </p:nvSpPr>
        <p:spPr>
          <a:xfrm>
            <a:off x="548640" y="1828800"/>
            <a:ext cx="2468880" cy="26060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5" name="Step 1 circle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205990"/>
            <a:ext cx="297180" cy="297180"/>
          </a:xfrm>
          <a:prstGeom prst="rect">
            <a:avLst/>
          </a:prstGeom>
        </p:spPr>
      </p:pic>
      <p:sp>
        <p:nvSpPr>
          <p:cNvPr id="7" name="Step title 1"/>
          <p:cNvSpPr txBox="1"/>
          <p:nvPr/>
        </p:nvSpPr>
        <p:spPr>
          <a:xfrm>
            <a:off x="7772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200" dirty="0"/>
          </a:p>
        </p:txBody>
      </p:sp>
      <p:sp>
        <p:nvSpPr>
          <p:cNvPr id="8" name="Step text 1"/>
          <p:cNvSpPr txBox="1"/>
          <p:nvPr/>
        </p:nvSpPr>
        <p:spPr>
          <a:xfrm>
            <a:off x="777240" y="3246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notebook with 133 cells: cleaning, features and a model.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3072384" y="2971800"/>
            <a:ext cx="23774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Step card 2"/>
          <p:cNvSpPr/>
          <p:nvPr/>
        </p:nvSpPr>
        <p:spPr>
          <a:xfrm>
            <a:off x="3337560" y="1828800"/>
            <a:ext cx="2468880" cy="26060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1" name="Step 2 circle"/>
          <p:cNvSpPr/>
          <p:nvPr/>
        </p:nvSpPr>
        <p:spPr>
          <a:xfrm>
            <a:off x="3566160" y="2057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205990"/>
            <a:ext cx="297180" cy="297180"/>
          </a:xfrm>
          <a:prstGeom prst="rect">
            <a:avLst/>
          </a:prstGeom>
        </p:spPr>
      </p:pic>
      <p:sp>
        <p:nvSpPr>
          <p:cNvPr id="13" name="Step title 2"/>
          <p:cNvSpPr txBox="1"/>
          <p:nvPr/>
        </p:nvSpPr>
        <p:spPr>
          <a:xfrm>
            <a:off x="35661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2200" dirty="0"/>
          </a:p>
        </p:txBody>
      </p:sp>
      <p:sp>
        <p:nvSpPr>
          <p:cNvPr id="14" name="Step text 2"/>
          <p:cNvSpPr txBox="1"/>
          <p:nvPr/>
        </p:nvSpPr>
        <p:spPr>
          <a:xfrm>
            <a:off x="3566160" y="3246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cleaning and feature steps become functions in Python files.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>
            <a:off x="5861304" y="2971800"/>
            <a:ext cx="23774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Step card 3"/>
          <p:cNvSpPr/>
          <p:nvPr/>
        </p:nvSpPr>
        <p:spPr>
          <a:xfrm>
            <a:off x="6126480" y="1828800"/>
            <a:ext cx="2468880" cy="26060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7" name="Step 3 circle"/>
          <p:cNvSpPr/>
          <p:nvPr/>
        </p:nvSpPr>
        <p:spPr>
          <a:xfrm>
            <a:off x="6355080" y="2057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2205990"/>
            <a:ext cx="297180" cy="297180"/>
          </a:xfrm>
          <a:prstGeom prst="rect">
            <a:avLst/>
          </a:prstGeom>
        </p:spPr>
      </p:pic>
      <p:sp>
        <p:nvSpPr>
          <p:cNvPr id="19" name="Step title 3"/>
          <p:cNvSpPr txBox="1"/>
          <p:nvPr/>
        </p:nvSpPr>
        <p:spPr>
          <a:xfrm>
            <a:off x="63550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2200" dirty="0"/>
          </a:p>
        </p:txBody>
      </p:sp>
      <p:sp>
        <p:nvSpPr>
          <p:cNvPr id="20" name="Step text 3"/>
          <p:cNvSpPr txBox="1"/>
          <p:nvPr/>
        </p:nvSpPr>
        <p:spPr>
          <a:xfrm>
            <a:off x="6355080" y="3246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reusable pipeline joins the functions, and tests check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starting point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original notebook works, but it is hard to trust and slow to run. These four facts show why.</a:t>
            </a:r>
            <a:endParaRPr lang="en-US" sz="1600" dirty="0"/>
          </a:p>
        </p:txBody>
      </p:sp>
      <p:sp>
        <p:nvSpPr>
          <p:cNvPr id="4" name="Fact card 1"/>
          <p:cNvSpPr/>
          <p:nvPr/>
        </p:nvSpPr>
        <p:spPr>
          <a:xfrm>
            <a:off x="548640" y="1828800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5" name="Fact number 1"/>
          <p:cNvSpPr txBox="1"/>
          <p:nvPr/>
        </p:nvSpPr>
        <p:spPr>
          <a:xfrm>
            <a:off x="822960" y="19385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3600" dirty="0"/>
          </a:p>
        </p:txBody>
      </p:sp>
      <p:sp>
        <p:nvSpPr>
          <p:cNvPr id="6" name="Fact text 1"/>
          <p:cNvSpPr txBox="1"/>
          <p:nvPr/>
        </p:nvSpPr>
        <p:spPr>
          <a:xfrm>
            <a:off x="822960" y="2578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cells in one long notebook, run by hand in order</a:t>
            </a:r>
            <a:endParaRPr lang="en-US" sz="1400" dirty="0"/>
          </a:p>
        </p:txBody>
      </p:sp>
      <p:sp>
        <p:nvSpPr>
          <p:cNvPr id="7" name="Fact card 2"/>
          <p:cNvSpPr/>
          <p:nvPr/>
        </p:nvSpPr>
        <p:spPr>
          <a:xfrm>
            <a:off x="4709160" y="1828800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8" name="Fact number 2"/>
          <p:cNvSpPr txBox="1"/>
          <p:nvPr/>
        </p:nvSpPr>
        <p:spPr>
          <a:xfrm>
            <a:off x="4983480" y="19385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15856</a:t>
            </a:r>
            <a:endParaRPr lang="en-US" sz="3600" dirty="0"/>
          </a:p>
        </p:txBody>
      </p:sp>
      <p:sp>
        <p:nvSpPr>
          <p:cNvPr id="9" name="Fact text 2"/>
          <p:cNvSpPr txBox="1"/>
          <p:nvPr/>
        </p:nvSpPr>
        <p:spPr>
          <a:xfrm>
            <a:off x="4983480" y="2578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fixed row number removes the 33-bedroom house</a:t>
            </a:r>
            <a:endParaRPr lang="en-US" sz="1400" dirty="0"/>
          </a:p>
        </p:txBody>
      </p:sp>
      <p:sp>
        <p:nvSpPr>
          <p:cNvPr id="10" name="Fact card 3"/>
          <p:cNvSpPr/>
          <p:nvPr/>
        </p:nvSpPr>
        <p:spPr>
          <a:xfrm>
            <a:off x="548640" y="3310128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11" name="Fact number 3"/>
          <p:cNvSpPr txBox="1"/>
          <p:nvPr/>
        </p:nvSpPr>
        <p:spPr>
          <a:xfrm>
            <a:off x="822960" y="34198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million</a:t>
            </a:r>
            <a:endParaRPr lang="en-US" sz="3600" dirty="0"/>
          </a:p>
        </p:txBody>
      </p:sp>
      <p:sp>
        <p:nvSpPr>
          <p:cNvPr id="12" name="Fact text 3"/>
          <p:cNvSpPr txBox="1"/>
          <p:nvPr/>
        </p:nvSpPr>
        <p:spPr>
          <a:xfrm>
            <a:off x="822960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 calculations in two loops for the water distance</a:t>
            </a:r>
            <a:endParaRPr lang="en-US" sz="1400" dirty="0"/>
          </a:p>
        </p:txBody>
      </p:sp>
      <p:sp>
        <p:nvSpPr>
          <p:cNvPr id="13" name="Fact card 4"/>
          <p:cNvSpPr/>
          <p:nvPr/>
        </p:nvSpPr>
        <p:spPr>
          <a:xfrm>
            <a:off x="4709160" y="3310128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14" name="Fact number 4"/>
          <p:cNvSpPr txBox="1"/>
          <p:nvPr/>
        </p:nvSpPr>
        <p:spPr>
          <a:xfrm>
            <a:off x="4983480" y="34198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Fact text 4"/>
          <p:cNvSpPr txBox="1"/>
          <p:nvPr/>
        </p:nvSpPr>
        <p:spPr>
          <a:xfrm>
            <a:off x="4983480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to prove that a change is safe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new structure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raw data flows through three files, one step after the other. Tests check every function.</a:t>
            </a:r>
            <a:endParaRPr lang="en-US" sz="1600" dirty="0"/>
          </a:p>
        </p:txBody>
      </p:sp>
      <p:sp>
        <p:nvSpPr>
          <p:cNvPr id="4" name="Flow box 1"/>
          <p:cNvSpPr/>
          <p:nvPr/>
        </p:nvSpPr>
        <p:spPr>
          <a:xfrm>
            <a:off x="54864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/>
        </p:spPr>
      </p:sp>
      <p:sp>
        <p:nvSpPr>
          <p:cNvPr id="5" name="Flow title 1"/>
          <p:cNvSpPr txBox="1"/>
          <p:nvPr/>
        </p:nvSpPr>
        <p:spPr>
          <a:xfrm>
            <a:off x="685800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Raw data</a:t>
            </a:r>
            <a:endParaRPr lang="en-US" sz="1800" dirty="0"/>
          </a:p>
        </p:txBody>
      </p:sp>
      <p:sp>
        <p:nvSpPr>
          <p:cNvPr id="6" name="Flow step 1"/>
          <p:cNvSpPr txBox="1"/>
          <p:nvPr/>
        </p:nvSpPr>
        <p:spPr>
          <a:xfrm>
            <a:off x="685800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21,597 rows</a:t>
            </a:r>
            <a:endParaRPr lang="en-US" sz="1400" dirty="0"/>
          </a:p>
        </p:txBody>
      </p:sp>
      <p:sp>
        <p:nvSpPr>
          <p:cNvPr id="7" name="Flow file 1"/>
          <p:cNvSpPr txBox="1"/>
          <p:nvPr/>
        </p:nvSpPr>
        <p:spPr>
          <a:xfrm>
            <a:off x="685800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data/*.csv</a:t>
            </a:r>
            <a:endParaRPr lang="en-US" sz="1200" dirty="0"/>
          </a:p>
        </p:txBody>
      </p:sp>
      <p:sp>
        <p:nvSpPr>
          <p:cNvPr id="8" name="Flow arrow 1"/>
          <p:cNvSpPr/>
          <p:nvPr/>
        </p:nvSpPr>
        <p:spPr>
          <a:xfrm>
            <a:off x="2377440" y="2423160"/>
            <a:ext cx="22860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Flow box 2"/>
          <p:cNvSpPr/>
          <p:nvPr/>
        </p:nvSpPr>
        <p:spPr>
          <a:xfrm>
            <a:off x="2633472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0" name="Flow title 2"/>
          <p:cNvSpPr txBox="1"/>
          <p:nvPr/>
        </p:nvSpPr>
        <p:spPr>
          <a:xfrm>
            <a:off x="2770632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Clean</a:t>
            </a:r>
            <a:endParaRPr lang="en-US" sz="1800" dirty="0"/>
          </a:p>
        </p:txBody>
      </p:sp>
      <p:sp>
        <p:nvSpPr>
          <p:cNvPr id="11" name="Flow step 2"/>
          <p:cNvSpPr txBox="1"/>
          <p:nvPr/>
        </p:nvSpPr>
        <p:spPr>
          <a:xfrm>
            <a:off x="2770632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clean_data()</a:t>
            </a:r>
            <a:endParaRPr lang="en-US" sz="1400" dirty="0"/>
          </a:p>
        </p:txBody>
      </p:sp>
      <p:sp>
        <p:nvSpPr>
          <p:cNvPr id="12" name="Flow file 2"/>
          <p:cNvSpPr txBox="1"/>
          <p:nvPr/>
        </p:nvSpPr>
        <p:spPr>
          <a:xfrm>
            <a:off x="2770632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cleaning.py</a:t>
            </a:r>
            <a:endParaRPr lang="en-US" sz="1200" dirty="0"/>
          </a:p>
        </p:txBody>
      </p:sp>
      <p:sp>
        <p:nvSpPr>
          <p:cNvPr id="13" name="Flow arrow 2"/>
          <p:cNvSpPr/>
          <p:nvPr/>
        </p:nvSpPr>
        <p:spPr>
          <a:xfrm>
            <a:off x="4462272" y="2423160"/>
            <a:ext cx="22860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Flow box 3"/>
          <p:cNvSpPr/>
          <p:nvPr/>
        </p:nvSpPr>
        <p:spPr>
          <a:xfrm>
            <a:off x="4718304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5" name="Flow title 3"/>
          <p:cNvSpPr txBox="1"/>
          <p:nvPr/>
        </p:nvSpPr>
        <p:spPr>
          <a:xfrm>
            <a:off x="4855464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Add features</a:t>
            </a:r>
            <a:endParaRPr lang="en-US" sz="1800" dirty="0"/>
          </a:p>
        </p:txBody>
      </p:sp>
      <p:sp>
        <p:nvSpPr>
          <p:cNvPr id="16" name="Flow step 3"/>
          <p:cNvSpPr txBox="1"/>
          <p:nvPr/>
        </p:nvSpPr>
        <p:spPr>
          <a:xfrm>
            <a:off x="4855464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add_features()</a:t>
            </a:r>
            <a:endParaRPr lang="en-US" sz="1400" dirty="0"/>
          </a:p>
        </p:txBody>
      </p:sp>
      <p:sp>
        <p:nvSpPr>
          <p:cNvPr id="17" name="Flow file 3"/>
          <p:cNvSpPr txBox="1"/>
          <p:nvPr/>
        </p:nvSpPr>
        <p:spPr>
          <a:xfrm>
            <a:off x="4855464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</a:t>
            </a:r>
            <a:endParaRPr lang="en-US" sz="1200" dirty="0"/>
          </a:p>
        </p:txBody>
      </p:sp>
      <p:sp>
        <p:nvSpPr>
          <p:cNvPr id="18" name="Flow arrow 3"/>
          <p:cNvSpPr/>
          <p:nvPr/>
        </p:nvSpPr>
        <p:spPr>
          <a:xfrm>
            <a:off x="6547104" y="2423160"/>
            <a:ext cx="22860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Flow box 4"/>
          <p:cNvSpPr/>
          <p:nvPr/>
        </p:nvSpPr>
        <p:spPr>
          <a:xfrm>
            <a:off x="6803136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/>
        </p:spPr>
      </p:sp>
      <p:sp>
        <p:nvSpPr>
          <p:cNvPr id="20" name="Flow title 4"/>
          <p:cNvSpPr txBox="1"/>
          <p:nvPr/>
        </p:nvSpPr>
        <p:spPr>
          <a:xfrm>
            <a:off x="6940296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 input</a:t>
            </a:r>
            <a:endParaRPr lang="en-US" sz="1800" dirty="0"/>
          </a:p>
        </p:txBody>
      </p:sp>
      <p:sp>
        <p:nvSpPr>
          <p:cNvPr id="21" name="Flow step 4"/>
          <p:cNvSpPr txBox="1"/>
          <p:nvPr/>
        </p:nvSpPr>
        <p:spPr>
          <a:xfrm>
            <a:off x="6940296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X and y</a:t>
            </a:r>
            <a:endParaRPr lang="en-US" sz="1400" dirty="0"/>
          </a:p>
        </p:txBody>
      </p:sp>
      <p:sp>
        <p:nvSpPr>
          <p:cNvPr id="22" name="Flow file 4"/>
          <p:cNvSpPr txBox="1"/>
          <p:nvPr/>
        </p:nvSpPr>
        <p:spPr>
          <a:xfrm>
            <a:off x="6940296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200" dirty="0"/>
          </a:p>
        </p:txBody>
      </p:sp>
      <p:sp>
        <p:nvSpPr>
          <p:cNvPr id="23" name="Tests card"/>
          <p:cNvSpPr/>
          <p:nvPr/>
        </p:nvSpPr>
        <p:spPr>
          <a:xfrm>
            <a:off x="548640" y="3520440"/>
            <a:ext cx="3886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4" name="Tests circle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Tests icon" descr="Te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874770"/>
            <a:ext cx="251460" cy="251460"/>
          </a:xfrm>
          <a:prstGeom prst="rect">
            <a:avLst/>
          </a:prstGeom>
        </p:spPr>
      </p:pic>
      <p:sp>
        <p:nvSpPr>
          <p:cNvPr id="26" name="Tests title"/>
          <p:cNvSpPr txBox="1"/>
          <p:nvPr/>
        </p:nvSpPr>
        <p:spPr>
          <a:xfrm>
            <a:off x="141732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24 tests in tests/</a:t>
            </a:r>
            <a:endParaRPr lang="en-US" sz="1600" dirty="0"/>
          </a:p>
        </p:txBody>
      </p:sp>
      <p:sp>
        <p:nvSpPr>
          <p:cNvPr id="27" name="Tests text"/>
          <p:cNvSpPr txBox="1"/>
          <p:nvPr/>
        </p:nvSpPr>
        <p:spPr>
          <a:xfrm>
            <a:off x="1417320" y="4005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function is checked against the numbers of the original notebook.</a:t>
            </a:r>
            <a:endParaRPr lang="en-US" sz="1400" dirty="0"/>
          </a:p>
        </p:txBody>
      </p:sp>
      <p:sp>
        <p:nvSpPr>
          <p:cNvPr id="28" name="Notebook card"/>
          <p:cNvSpPr/>
          <p:nvPr/>
        </p:nvSpPr>
        <p:spPr>
          <a:xfrm>
            <a:off x="4709160" y="3520440"/>
            <a:ext cx="3886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9" name="Notebook circle"/>
          <p:cNvSpPr/>
          <p:nvPr/>
        </p:nvSpPr>
        <p:spPr>
          <a:xfrm>
            <a:off x="4892040" y="3749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Notebook icon" descr="Note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3874770"/>
            <a:ext cx="251460" cy="251460"/>
          </a:xfrm>
          <a:prstGeom prst="rect">
            <a:avLst/>
          </a:prstGeom>
        </p:spPr>
      </p:pic>
      <p:sp>
        <p:nvSpPr>
          <p:cNvPr id="31" name="Notebook title"/>
          <p:cNvSpPr txBox="1"/>
          <p:nvPr/>
        </p:nvSpPr>
        <p:spPr>
          <a:xfrm>
            <a:off x="5577840" y="3657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refactored notebook</a:t>
            </a:r>
            <a:endParaRPr lang="en-US" sz="1600" dirty="0"/>
          </a:p>
        </p:txBody>
      </p:sp>
      <p:sp>
        <p:nvSpPr>
          <p:cNvPr id="32" name="Notebook text"/>
          <p:cNvSpPr txBox="1"/>
          <p:nvPr/>
        </p:nvSpPr>
        <p:spPr>
          <a:xfrm>
            <a:off x="5577840" y="40050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King-County-refactored.ipynb calls the same functions.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cleaning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Four small functions in cleaning.py. clean_data() runs them in the same order as the notebook, and every one has a test.</a:t>
            </a:r>
            <a:endParaRPr lang="en-US" sz="1600" dirty="0"/>
          </a:p>
        </p:txBody>
      </p:sp>
      <p:sp>
        <p:nvSpPr>
          <p:cNvPr id="4" name="Cleaning card 1"/>
          <p:cNvSpPr/>
          <p:nvPr/>
        </p:nvSpPr>
        <p:spPr>
          <a:xfrm>
            <a:off x="548640" y="1828800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5" name="Cleaning 1 circle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Cleaning 1 icon" descr="Cleani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228600" cy="228600"/>
          </a:xfrm>
          <a:prstGeom prst="rect">
            <a:avLst/>
          </a:prstGeom>
        </p:spPr>
      </p:pic>
      <p:sp>
        <p:nvSpPr>
          <p:cNvPr id="7" name="Cleaning name 1"/>
          <p:cNvSpPr txBox="1"/>
          <p:nvPr/>
        </p:nvSpPr>
        <p:spPr>
          <a:xfrm>
            <a:off x="132588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remove_implausible_houses</a:t>
            </a:r>
            <a:endParaRPr lang="en-US" sz="1200" dirty="0"/>
          </a:p>
        </p:txBody>
      </p:sp>
      <p:sp>
        <p:nvSpPr>
          <p:cNvPr id="8" name="Cleaning text 1"/>
          <p:cNvSpPr txBox="1"/>
          <p:nvPr/>
        </p:nvSpPr>
        <p:spPr>
          <a:xfrm>
            <a:off x="822960" y="2578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Removes the 33-bedroom house by a condition, not by a row number.</a:t>
            </a:r>
            <a:endParaRPr lang="en-US" sz="1400" dirty="0"/>
          </a:p>
        </p:txBody>
      </p:sp>
      <p:sp>
        <p:nvSpPr>
          <p:cNvPr id="9" name="Cleaning card 2"/>
          <p:cNvSpPr/>
          <p:nvPr/>
        </p:nvSpPr>
        <p:spPr>
          <a:xfrm>
            <a:off x="4709160" y="1828800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10" name="Cleaning 2 circle"/>
          <p:cNvSpPr/>
          <p:nvPr/>
        </p:nvSpPr>
        <p:spPr>
          <a:xfrm>
            <a:off x="489204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leaning 2 icon" descr="Cleani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25980"/>
            <a:ext cx="228600" cy="228600"/>
          </a:xfrm>
          <a:prstGeom prst="rect">
            <a:avLst/>
          </a:prstGeom>
        </p:spPr>
      </p:pic>
      <p:sp>
        <p:nvSpPr>
          <p:cNvPr id="12" name="Cleaning name 2"/>
          <p:cNvSpPr txBox="1"/>
          <p:nvPr/>
        </p:nvSpPr>
        <p:spPr>
          <a:xfrm>
            <a:off x="548640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fix_basement_size</a:t>
            </a:r>
            <a:endParaRPr lang="en-US" sz="1200" dirty="0"/>
          </a:p>
        </p:txBody>
      </p:sp>
      <p:sp>
        <p:nvSpPr>
          <p:cNvPr id="13" name="Cleaning text 2"/>
          <p:cNvSpPr txBox="1"/>
          <p:nvPr/>
        </p:nvSpPr>
        <p:spPr>
          <a:xfrm>
            <a:off x="4983480" y="2578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sqft_basement = sqft_living - sqft_above, so the ? values are gone.</a:t>
            </a:r>
            <a:endParaRPr lang="en-US" sz="1400" dirty="0"/>
          </a:p>
        </p:txBody>
      </p:sp>
      <p:sp>
        <p:nvSpPr>
          <p:cNvPr id="14" name="Cleaning card 3"/>
          <p:cNvSpPr/>
          <p:nvPr/>
        </p:nvSpPr>
        <p:spPr>
          <a:xfrm>
            <a:off x="548640" y="3310128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15" name="Cleaning 3 circle"/>
          <p:cNvSpPr/>
          <p:nvPr/>
        </p:nvSpPr>
        <p:spPr>
          <a:xfrm>
            <a:off x="731520" y="34930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leaning 3 icon" descr="Cleani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607308"/>
            <a:ext cx="228600" cy="228600"/>
          </a:xfrm>
          <a:prstGeom prst="rect">
            <a:avLst/>
          </a:prstGeom>
        </p:spPr>
      </p:pic>
      <p:sp>
        <p:nvSpPr>
          <p:cNvPr id="17" name="Cleaning name 3"/>
          <p:cNvSpPr txBox="1"/>
          <p:nvPr/>
        </p:nvSpPr>
        <p:spPr>
          <a:xfrm>
            <a:off x="1325880" y="3493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fill_missing_view_and_waterfront</a:t>
            </a:r>
            <a:endParaRPr lang="en-US" sz="1200" dirty="0"/>
          </a:p>
        </p:txBody>
      </p:sp>
      <p:sp>
        <p:nvSpPr>
          <p:cNvPr id="18" name="Cleaning text 3"/>
          <p:cNvSpPr txBox="1"/>
          <p:nvPr/>
        </p:nvSpPr>
        <p:spPr>
          <a:xfrm>
            <a:off x="822960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view and waterfront values become 0.</a:t>
            </a:r>
            <a:endParaRPr lang="en-US" sz="1400" dirty="0"/>
          </a:p>
        </p:txBody>
      </p:sp>
      <p:sp>
        <p:nvSpPr>
          <p:cNvPr id="19" name="Cleaning card 4"/>
          <p:cNvSpPr/>
          <p:nvPr/>
        </p:nvSpPr>
        <p:spPr>
          <a:xfrm>
            <a:off x="4709160" y="3310128"/>
            <a:ext cx="388620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/>
        </p:spPr>
      </p:sp>
      <p:sp>
        <p:nvSpPr>
          <p:cNvPr id="20" name="Cleaning 4 circle"/>
          <p:cNvSpPr/>
          <p:nvPr/>
        </p:nvSpPr>
        <p:spPr>
          <a:xfrm>
            <a:off x="4892040" y="34930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Cleaning 4 icon" descr="Cleani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607308"/>
            <a:ext cx="228600" cy="228600"/>
          </a:xfrm>
          <a:prstGeom prst="rect">
            <a:avLst/>
          </a:prstGeom>
        </p:spPr>
      </p:pic>
      <p:sp>
        <p:nvSpPr>
          <p:cNvPr id="22" name="Cleaning name 4"/>
          <p:cNvSpPr txBox="1"/>
          <p:nvPr/>
        </p:nvSpPr>
        <p:spPr>
          <a:xfrm>
            <a:off x="5486400" y="3493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add_last_known_change</a:t>
            </a:r>
            <a:endParaRPr lang="en-US" sz="1200" dirty="0"/>
          </a:p>
        </p:txBody>
      </p:sp>
      <p:sp>
        <p:nvSpPr>
          <p:cNvPr id="23" name="Cleaning text 4"/>
          <p:cNvSpPr txBox="1"/>
          <p:nvPr/>
        </p:nvSpPr>
        <p:spPr>
          <a:xfrm>
            <a:off x="4983480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renovation year if renovated, else the year it was built.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Feature engineering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Three new columns in features.py. The water distance is now one calculation instead of two loops.</a:t>
            </a:r>
            <a:endParaRPr lang="en-US" sz="16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828800"/>
            <a:ext cx="2468880" cy="274320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5" name="Feature 1 circle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Feature 1 icon" descr="Fea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7" name="Feature title 1"/>
          <p:cNvSpPr txBox="1"/>
          <p:nvPr/>
        </p:nvSpPr>
        <p:spPr>
          <a:xfrm>
            <a:off x="77724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Price per square foot</a:t>
            </a:r>
            <a:endParaRPr lang="en-US" sz="1600" dirty="0"/>
          </a:p>
        </p:txBody>
      </p:sp>
      <p:sp>
        <p:nvSpPr>
          <p:cNvPr id="8" name="Feature function 1"/>
          <p:cNvSpPr txBox="1"/>
          <p:nvPr/>
        </p:nvSpPr>
        <p:spPr>
          <a:xfrm>
            <a:off x="77724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add_sqft_price</a:t>
            </a:r>
            <a:endParaRPr lang="en-US" sz="1200" dirty="0"/>
          </a:p>
        </p:txBody>
      </p:sp>
      <p:sp>
        <p:nvSpPr>
          <p:cNvPr id="9" name="Feature text 1"/>
          <p:cNvSpPr txBox="1"/>
          <p:nvPr/>
        </p:nvSpPr>
        <p:spPr>
          <a:xfrm>
            <a:off x="777240" y="35661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divided by living plus lot area. It uses the price, so it is never a model input.</a:t>
            </a:r>
            <a:endParaRPr lang="en-US" sz="1400" dirty="0"/>
          </a:p>
        </p:txBody>
      </p:sp>
      <p:sp>
        <p:nvSpPr>
          <p:cNvPr id="10" name="Feature card 2"/>
          <p:cNvSpPr/>
          <p:nvPr/>
        </p:nvSpPr>
        <p:spPr>
          <a:xfrm>
            <a:off x="3337560" y="1828800"/>
            <a:ext cx="2468880" cy="274320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1" name="Feature 2 circle"/>
          <p:cNvSpPr/>
          <p:nvPr/>
        </p:nvSpPr>
        <p:spPr>
          <a:xfrm>
            <a:off x="356616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Feature 2 icon" descr="Fea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48840"/>
            <a:ext cx="274320" cy="274320"/>
          </a:xfrm>
          <a:prstGeom prst="rect">
            <a:avLst/>
          </a:prstGeom>
        </p:spPr>
      </p:pic>
      <p:sp>
        <p:nvSpPr>
          <p:cNvPr id="13" name="Feature title 2"/>
          <p:cNvSpPr txBox="1"/>
          <p:nvPr/>
        </p:nvSpPr>
        <p:spPr>
          <a:xfrm>
            <a:off x="356616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Distance to the center</a:t>
            </a:r>
            <a:endParaRPr lang="en-US" sz="1600" dirty="0"/>
          </a:p>
        </p:txBody>
      </p:sp>
      <p:sp>
        <p:nvSpPr>
          <p:cNvPr id="14" name="Feature function 2"/>
          <p:cNvSpPr txBox="1"/>
          <p:nvPr/>
        </p:nvSpPr>
        <p:spPr>
          <a:xfrm>
            <a:off x="356616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add_center_distance</a:t>
            </a:r>
            <a:endParaRPr lang="en-US" sz="1200" dirty="0"/>
          </a:p>
        </p:txBody>
      </p:sp>
      <p:sp>
        <p:nvSpPr>
          <p:cNvPr id="15" name="Feature text 2"/>
          <p:cNvSpPr txBox="1"/>
          <p:nvPr/>
        </p:nvSpPr>
        <p:spPr>
          <a:xfrm>
            <a:off x="3566160" y="35661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Kilometres to the center of wealth, with the formula of the notebook.</a:t>
            </a:r>
            <a:endParaRPr lang="en-US" sz="1400" dirty="0"/>
          </a:p>
        </p:txBody>
      </p:sp>
      <p:sp>
        <p:nvSpPr>
          <p:cNvPr id="16" name="Feature card 3"/>
          <p:cNvSpPr/>
          <p:nvPr/>
        </p:nvSpPr>
        <p:spPr>
          <a:xfrm>
            <a:off x="6126480" y="1828800"/>
            <a:ext cx="2468880" cy="274320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7" name="Feature 3 circle"/>
          <p:cNvSpPr/>
          <p:nvPr/>
        </p:nvSpPr>
        <p:spPr>
          <a:xfrm>
            <a:off x="635508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Feature 3 icon" descr="Fea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48840"/>
            <a:ext cx="274320" cy="274320"/>
          </a:xfrm>
          <a:prstGeom prst="rect">
            <a:avLst/>
          </a:prstGeom>
        </p:spPr>
      </p:pic>
      <p:sp>
        <p:nvSpPr>
          <p:cNvPr id="19" name="Feature title 3"/>
          <p:cNvSpPr txBox="1"/>
          <p:nvPr/>
        </p:nvSpPr>
        <p:spPr>
          <a:xfrm>
            <a:off x="635508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Distance to the water</a:t>
            </a:r>
            <a:endParaRPr lang="en-US" sz="1600" dirty="0"/>
          </a:p>
        </p:txBody>
      </p:sp>
      <p:sp>
        <p:nvSpPr>
          <p:cNvPr id="20" name="Feature function 3"/>
          <p:cNvSpPr txBox="1"/>
          <p:nvPr/>
        </p:nvSpPr>
        <p:spPr>
          <a:xfrm>
            <a:off x="635508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add_water_distance</a:t>
            </a:r>
            <a:endParaRPr lang="en-US" sz="1200" dirty="0"/>
          </a:p>
        </p:txBody>
      </p:sp>
      <p:sp>
        <p:nvSpPr>
          <p:cNvPr id="21" name="Feature text 3"/>
          <p:cNvSpPr txBox="1"/>
          <p:nvPr/>
        </p:nvSpPr>
        <p:spPr>
          <a:xfrm>
            <a:off x="6355080" y="35661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Kilometres to the nearest of 146 waterfront houses, in one numpy calculation.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results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refactored code gives the same numbers and the same model scores as the original notebook.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 1"/>
          <p:cNvSpPr/>
          <p:nvPr/>
        </p:nvSpPr>
        <p:spPr>
          <a:xfrm>
            <a:off x="5669280" y="178308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Stat number 1"/>
          <p:cNvSpPr txBox="1"/>
          <p:nvPr/>
        </p:nvSpPr>
        <p:spPr>
          <a:xfrm>
            <a:off x="5852160" y="18470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7" name="Stat text 1"/>
          <p:cNvSpPr txBox="1"/>
          <p:nvPr/>
        </p:nvSpPr>
        <p:spPr>
          <a:xfrm>
            <a:off x="585216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tests pass, including the numbers of the original notebook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5669280" y="278892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Stat number 2"/>
          <p:cNvSpPr txBox="1"/>
          <p:nvPr/>
        </p:nvSpPr>
        <p:spPr>
          <a:xfrm>
            <a:off x="5852160" y="28529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21,596</a:t>
            </a:r>
            <a:endParaRPr lang="en-US" sz="2400" dirty="0"/>
          </a:p>
        </p:txBody>
      </p:sp>
      <p:sp>
        <p:nvSpPr>
          <p:cNvPr id="10" name="Stat text 2"/>
          <p:cNvSpPr txBox="1"/>
          <p:nvPr/>
        </p:nvSpPr>
        <p:spPr>
          <a:xfrm>
            <a:off x="5852160" y="3246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rows after cleaning, with no missing values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5669280" y="379476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Stat number 3"/>
          <p:cNvSpPr txBox="1"/>
          <p:nvPr/>
        </p:nvSpPr>
        <p:spPr>
          <a:xfrm>
            <a:off x="5852160" y="3858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 to 10 s</a:t>
            </a:r>
            <a:endParaRPr lang="en-US" sz="2400" dirty="0"/>
          </a:p>
        </p:txBody>
      </p:sp>
      <p:sp>
        <p:nvSpPr>
          <p:cNvPr id="13" name="Stat text 3"/>
          <p:cNvSpPr txBox="1"/>
          <p:nvPr/>
        </p:nvSpPr>
        <p:spPr>
          <a:xfrm>
            <a:off x="5852160" y="4251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time of the notebook (in a test run)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steps we took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Question 1 of the project: what steps did you take to complete the project?</a:t>
            </a:r>
            <a:endParaRPr lang="en-US" sz="1600" dirty="0"/>
          </a:p>
        </p:txBody>
      </p:sp>
      <p:sp>
        <p:nvSpPr>
          <p:cNvPr id="4" name="Step card 1"/>
          <p:cNvSpPr/>
          <p:nvPr/>
        </p:nvSpPr>
        <p:spPr>
          <a:xfrm>
            <a:off x="548640" y="182880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Number circle 1"/>
          <p:cNvSpPr/>
          <p:nvPr/>
        </p:nvSpPr>
        <p:spPr>
          <a:xfrm>
            <a:off x="731520" y="1965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7315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3152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task and list what the notebook does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37560" y="182880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9" name="Number circle 2"/>
          <p:cNvSpPr/>
          <p:nvPr/>
        </p:nvSpPr>
        <p:spPr>
          <a:xfrm>
            <a:off x="3520440" y="1965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35204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352044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steps on real data and note the reference numbers</a:t>
            </a:r>
            <a:endParaRPr lang="en-US" sz="1400" dirty="0"/>
          </a:p>
        </p:txBody>
      </p:sp>
      <p:sp>
        <p:nvSpPr>
          <p:cNvPr id="12" name="Step card 3"/>
          <p:cNvSpPr/>
          <p:nvPr/>
        </p:nvSpPr>
        <p:spPr>
          <a:xfrm>
            <a:off x="6126480" y="182880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Number circle 3"/>
          <p:cNvSpPr/>
          <p:nvPr/>
        </p:nvSpPr>
        <p:spPr>
          <a:xfrm>
            <a:off x="6309360" y="1965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63093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ep text 3"/>
          <p:cNvSpPr txBox="1"/>
          <p:nvPr/>
        </p:nvSpPr>
        <p:spPr>
          <a:xfrm>
            <a:off x="630936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the cleaning into cleaning.py, with tests</a:t>
            </a:r>
            <a:endParaRPr lang="en-US" sz="1400" dirty="0"/>
          </a:p>
        </p:txBody>
      </p:sp>
      <p:sp>
        <p:nvSpPr>
          <p:cNvPr id="16" name="Step card 4"/>
          <p:cNvSpPr/>
          <p:nvPr/>
        </p:nvSpPr>
        <p:spPr>
          <a:xfrm>
            <a:off x="548640" y="329184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7" name="Number circle 4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Number 4"/>
          <p:cNvSpPr txBox="1"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tep text 4"/>
          <p:cNvSpPr txBox="1"/>
          <p:nvPr/>
        </p:nvSpPr>
        <p:spPr>
          <a:xfrm>
            <a:off x="731520" y="39136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the features into features.py and replace the loops</a:t>
            </a:r>
            <a:endParaRPr lang="en-US" sz="1400" dirty="0"/>
          </a:p>
        </p:txBody>
      </p:sp>
      <p:sp>
        <p:nvSpPr>
          <p:cNvPr id="20" name="Step card 5"/>
          <p:cNvSpPr/>
          <p:nvPr/>
        </p:nvSpPr>
        <p:spPr>
          <a:xfrm>
            <a:off x="3337560" y="329184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1" name="Number circle 5"/>
          <p:cNvSpPr/>
          <p:nvPr/>
        </p:nvSpPr>
        <p:spPr>
          <a:xfrm>
            <a:off x="3520440" y="34290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Number 5"/>
          <p:cNvSpPr txBox="1"/>
          <p:nvPr/>
        </p:nvSpPr>
        <p:spPr>
          <a:xfrm>
            <a:off x="35204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tep text 5"/>
          <p:cNvSpPr txBox="1"/>
          <p:nvPr/>
        </p:nvSpPr>
        <p:spPr>
          <a:xfrm>
            <a:off x="3520440" y="39136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 everything in pipeline.py and test it for new houses too</a:t>
            </a:r>
            <a:endParaRPr lang="en-US" sz="1400" dirty="0"/>
          </a:p>
        </p:txBody>
      </p:sp>
      <p:sp>
        <p:nvSpPr>
          <p:cNvPr id="24" name="Step card 6"/>
          <p:cNvSpPr/>
          <p:nvPr/>
        </p:nvSpPr>
        <p:spPr>
          <a:xfrm>
            <a:off x="6126480" y="329184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5" name="Number circle 6"/>
          <p:cNvSpPr/>
          <p:nvPr/>
        </p:nvSpPr>
        <p:spPr>
          <a:xfrm>
            <a:off x="6309360" y="34290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Number 6"/>
          <p:cNvSpPr txBox="1"/>
          <p:nvPr/>
        </p:nvSpPr>
        <p:spPr>
          <a:xfrm>
            <a:off x="63093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Step text 6"/>
          <p:cNvSpPr txBox="1"/>
          <p:nvPr/>
        </p:nvSpPr>
        <p:spPr>
          <a:xfrm>
            <a:off x="6309360" y="39136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 the notebook to use the functions, then compare the model scores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challenges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Question 2 of the project: what challenges did you face? Four problems, and how each one was solved.</a:t>
            </a:r>
            <a:endParaRPr lang="en-US" sz="1600" dirty="0"/>
          </a:p>
        </p:txBody>
      </p:sp>
      <p:sp>
        <p:nvSpPr>
          <p:cNvPr id="4" name="Challenge row 1"/>
          <p:cNvSpPr/>
          <p:nvPr/>
        </p:nvSpPr>
        <p:spPr>
          <a:xfrm>
            <a:off x="548640" y="1691640"/>
            <a:ext cx="80467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5" name="Challenge 1 circle"/>
          <p:cNvSpPr/>
          <p:nvPr/>
        </p:nvSpPr>
        <p:spPr>
          <a:xfrm>
            <a:off x="713232" y="17922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Challenge 1 icon" descr="Challen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906524"/>
            <a:ext cx="228600" cy="228600"/>
          </a:xfrm>
          <a:prstGeom prst="rect">
            <a:avLst/>
          </a:prstGeom>
        </p:spPr>
      </p:pic>
      <p:sp>
        <p:nvSpPr>
          <p:cNvPr id="7" name="Challenge title 1"/>
          <p:cNvSpPr txBox="1"/>
          <p:nvPr/>
        </p:nvSpPr>
        <p:spPr>
          <a:xfrm>
            <a:off x="1371600" y="169164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fixed row number</a:t>
            </a:r>
            <a:endParaRPr lang="en-US" sz="1600" dirty="0"/>
          </a:p>
        </p:txBody>
      </p:sp>
      <p:sp>
        <p:nvSpPr>
          <p:cNvPr id="8" name="Challenge text 1"/>
          <p:cNvSpPr txBox="1"/>
          <p:nvPr/>
        </p:nvSpPr>
        <p:spPr>
          <a:xfrm>
            <a:off x="4023360" y="16916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condition (bedrooms above 30) replaces drop(15856).</a:t>
            </a:r>
            <a:endParaRPr lang="en-US" sz="1400" dirty="0"/>
          </a:p>
        </p:txBody>
      </p:sp>
      <p:sp>
        <p:nvSpPr>
          <p:cNvPr id="9" name="Challenge row 2"/>
          <p:cNvSpPr/>
          <p:nvPr/>
        </p:nvSpPr>
        <p:spPr>
          <a:xfrm>
            <a:off x="548640" y="2423160"/>
            <a:ext cx="80467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Challenge 2 circle"/>
          <p:cNvSpPr/>
          <p:nvPr/>
        </p:nvSpPr>
        <p:spPr>
          <a:xfrm>
            <a:off x="713232" y="25237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hallenge 2 icon" descr="Challeng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2638044"/>
            <a:ext cx="228600" cy="228600"/>
          </a:xfrm>
          <a:prstGeom prst="rect">
            <a:avLst/>
          </a:prstGeom>
        </p:spPr>
      </p:pic>
      <p:sp>
        <p:nvSpPr>
          <p:cNvPr id="12" name="Challenge title 2"/>
          <p:cNvSpPr txBox="1"/>
          <p:nvPr/>
        </p:nvSpPr>
        <p:spPr>
          <a:xfrm>
            <a:off x="1371600" y="24231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Slow loops</a:t>
            </a:r>
            <a:endParaRPr lang="en-US" sz="1600" dirty="0"/>
          </a:p>
        </p:txBody>
      </p:sp>
      <p:sp>
        <p:nvSpPr>
          <p:cNvPr id="13" name="Challenge text 2"/>
          <p:cNvSpPr txBox="1"/>
          <p:nvPr/>
        </p:nvSpPr>
        <p:spPr>
          <a:xfrm>
            <a:off x="4023360" y="24231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numpy calculation: about 2 minutes became about 10 seconds (in a test run).</a:t>
            </a:r>
            <a:endParaRPr lang="en-US" sz="1400" dirty="0"/>
          </a:p>
        </p:txBody>
      </p:sp>
      <p:sp>
        <p:nvSpPr>
          <p:cNvPr id="14" name="Challenge row 3"/>
          <p:cNvSpPr/>
          <p:nvPr/>
        </p:nvSpPr>
        <p:spPr>
          <a:xfrm>
            <a:off x="548640" y="3154680"/>
            <a:ext cx="80467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5" name="Challenge 3 circle"/>
          <p:cNvSpPr/>
          <p:nvPr/>
        </p:nvSpPr>
        <p:spPr>
          <a:xfrm>
            <a:off x="713232" y="325526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hallenge 3 icon" descr="Challeng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369564"/>
            <a:ext cx="228600" cy="228600"/>
          </a:xfrm>
          <a:prstGeom prst="rect">
            <a:avLst/>
          </a:prstGeom>
        </p:spPr>
      </p:pic>
      <p:sp>
        <p:nvSpPr>
          <p:cNvPr id="17" name="Challenge title 3"/>
          <p:cNvSpPr txBox="1"/>
          <p:nvPr/>
        </p:nvSpPr>
        <p:spPr>
          <a:xfrm>
            <a:off x="1371600" y="31546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New houses have no price</a:t>
            </a:r>
            <a:endParaRPr lang="en-US" sz="1600" dirty="0"/>
          </a:p>
        </p:txBody>
      </p:sp>
      <p:sp>
        <p:nvSpPr>
          <p:cNvPr id="18" name="Challenge text 3"/>
          <p:cNvSpPr txBox="1"/>
          <p:nvPr/>
        </p:nvSpPr>
        <p:spPr>
          <a:xfrm>
            <a:off x="4023360" y="31546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sqft_price is optional, and the waterfront reference points are saved.</a:t>
            </a:r>
            <a:endParaRPr lang="en-US" sz="1400" dirty="0"/>
          </a:p>
        </p:txBody>
      </p:sp>
      <p:sp>
        <p:nvSpPr>
          <p:cNvPr id="19" name="Challenge row 4"/>
          <p:cNvSpPr/>
          <p:nvPr/>
        </p:nvSpPr>
        <p:spPr>
          <a:xfrm>
            <a:off x="548640" y="3886200"/>
            <a:ext cx="80467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0" name="Challenge 4 circle"/>
          <p:cNvSpPr/>
          <p:nvPr/>
        </p:nvSpPr>
        <p:spPr>
          <a:xfrm>
            <a:off x="713232" y="398678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Challenge 4 icon" descr="Challeng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101084"/>
            <a:ext cx="228600" cy="228600"/>
          </a:xfrm>
          <a:prstGeom prst="rect">
            <a:avLst/>
          </a:prstGeom>
        </p:spPr>
      </p:pic>
      <p:sp>
        <p:nvSpPr>
          <p:cNvPr id="22" name="Challenge title 4"/>
          <p:cNvSpPr txBox="1"/>
          <p:nvPr/>
        </p:nvSpPr>
        <p:spPr>
          <a:xfrm>
            <a:off x="1371600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Proving nothing changed</a:t>
            </a:r>
            <a:endParaRPr lang="en-US" sz="1600" dirty="0"/>
          </a:p>
        </p:txBody>
      </p:sp>
      <p:sp>
        <p:nvSpPr>
          <p:cNvPr id="23" name="Challenge text 4"/>
          <p:cNvSpPr txBox="1"/>
          <p:nvPr/>
        </p:nvSpPr>
        <p:spPr>
          <a:xfrm>
            <a:off x="4023360" y="38862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original numbers became tests, and the model scores of both notebooks were compared.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With more time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Question 3 of the project: what would you do differently with more time? The optional tasks come next.</a:t>
            </a:r>
            <a:endParaRPr lang="en-US" sz="1600" dirty="0"/>
          </a:p>
        </p:txBody>
      </p:sp>
      <p:sp>
        <p:nvSpPr>
          <p:cNvPr id="4" name="More 1 circle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ore 1 icon" descr="Mo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97380"/>
            <a:ext cx="228600" cy="228600"/>
          </a:xfrm>
          <a:prstGeom prst="rect">
            <a:avLst/>
          </a:prstGeom>
        </p:spPr>
      </p:pic>
      <p:sp>
        <p:nvSpPr>
          <p:cNvPr id="6" name="More text 1"/>
          <p:cNvSpPr txBox="1"/>
          <p:nvPr/>
        </p:nvSpPr>
        <p:spPr>
          <a:xfrm>
            <a:off x="114300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Put the model into the pipeline and save it</a:t>
            </a:r>
            <a:endParaRPr lang="en-US" sz="1600" dirty="0"/>
          </a:p>
        </p:txBody>
      </p:sp>
      <p:sp>
        <p:nvSpPr>
          <p:cNvPr id="7" name="More 2 circle"/>
          <p:cNvSpPr/>
          <p:nvPr/>
        </p:nvSpPr>
        <p:spPr>
          <a:xfrm>
            <a:off x="470916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More 2 icon" descr="Mo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897380"/>
            <a:ext cx="228600" cy="228600"/>
          </a:xfrm>
          <a:prstGeom prst="rect">
            <a:avLst/>
          </a:prstGeom>
        </p:spPr>
      </p:pic>
      <p:sp>
        <p:nvSpPr>
          <p:cNvPr id="9" name="More text 2"/>
          <p:cNvSpPr txBox="1"/>
          <p:nvPr/>
        </p:nvSpPr>
        <p:spPr>
          <a:xfrm>
            <a:off x="53035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Build the FastAPI app with a database</a:t>
            </a:r>
            <a:endParaRPr lang="en-US" sz="1600" dirty="0"/>
          </a:p>
        </p:txBody>
      </p:sp>
      <p:sp>
        <p:nvSpPr>
          <p:cNvPr id="10" name="More 3 circle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re 3 icon" descr="Mo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610612"/>
            <a:ext cx="228600" cy="228600"/>
          </a:xfrm>
          <a:prstGeom prst="rect">
            <a:avLst/>
          </a:prstGeom>
        </p:spPr>
      </p:pic>
      <p:sp>
        <p:nvSpPr>
          <p:cNvPr id="12" name="More text 3"/>
          <p:cNvSpPr txBox="1"/>
          <p:nvPr/>
        </p:nvSpPr>
        <p:spPr>
          <a:xfrm>
            <a:off x="1143000" y="2496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the app in a container with Docker Compose</a:t>
            </a:r>
            <a:endParaRPr lang="en-US" sz="1600" dirty="0"/>
          </a:p>
        </p:txBody>
      </p:sp>
      <p:sp>
        <p:nvSpPr>
          <p:cNvPr id="13" name="More 4 circle"/>
          <p:cNvSpPr/>
          <p:nvPr/>
        </p:nvSpPr>
        <p:spPr>
          <a:xfrm>
            <a:off x="4709160" y="2496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More 4 icon" descr="Mor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610612"/>
            <a:ext cx="228600" cy="228600"/>
          </a:xfrm>
          <a:prstGeom prst="rect">
            <a:avLst/>
          </a:prstGeom>
        </p:spPr>
      </p:pic>
      <p:sp>
        <p:nvSpPr>
          <p:cNvPr id="15" name="More text 4"/>
          <p:cNvSpPr txBox="1"/>
          <p:nvPr/>
        </p:nvSpPr>
        <p:spPr>
          <a:xfrm>
            <a:off x="5303520" y="2496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the tests automatically with GitHub Actions</a:t>
            </a:r>
            <a:endParaRPr lang="en-US" sz="1600" dirty="0"/>
          </a:p>
        </p:txBody>
      </p:sp>
      <p:sp>
        <p:nvSpPr>
          <p:cNvPr id="16" name="More 5 circle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More 5 icon" descr="Mor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323844"/>
            <a:ext cx="228600" cy="228600"/>
          </a:xfrm>
          <a:prstGeom prst="rect">
            <a:avLst/>
          </a:prstGeom>
        </p:spPr>
      </p:pic>
      <p:sp>
        <p:nvSpPr>
          <p:cNvPr id="18" name="More text 5"/>
          <p:cNvSpPr txBox="1"/>
          <p:nvPr/>
        </p:nvSpPr>
        <p:spPr>
          <a:xfrm>
            <a:off x="1143000" y="32095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Split the data before the water distance is computed</a:t>
            </a:r>
            <a:endParaRPr lang="en-US" sz="1600" dirty="0"/>
          </a:p>
        </p:txBody>
      </p:sp>
      <p:sp>
        <p:nvSpPr>
          <p:cNvPr id="19" name="More 6 circle"/>
          <p:cNvSpPr/>
          <p:nvPr/>
        </p:nvSpPr>
        <p:spPr>
          <a:xfrm>
            <a:off x="470916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More 6 icon" descr="Mor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460" y="3323844"/>
            <a:ext cx="228600" cy="228600"/>
          </a:xfrm>
          <a:prstGeom prst="rect">
            <a:avLst/>
          </a:prstGeom>
        </p:spPr>
      </p:pic>
      <p:sp>
        <p:nvSpPr>
          <p:cNvPr id="21" name="More text 6"/>
          <p:cNvSpPr txBox="1"/>
          <p:nvPr/>
        </p:nvSpPr>
        <p:spPr>
          <a:xfrm>
            <a:off x="5303520" y="32095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Check new houses with Pydantic</a:t>
            </a:r>
            <a:endParaRPr lang="en-US" sz="1600" dirty="0"/>
          </a:p>
        </p:txBody>
      </p:sp>
      <p:sp>
        <p:nvSpPr>
          <p:cNvPr id="22" name="Closing line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results, cleaner and tested code</a:t>
            </a:r>
            <a:endParaRPr lang="en-US" sz="2000" dirty="0"/>
          </a:p>
        </p:txBody>
      </p:sp>
      <p:sp>
        <p:nvSpPr>
          <p:cNvPr id="23" name="Repository address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github.com/michobc205/mle-refactoring-project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ng County">
  <a:themeElements>
    <a:clrScheme name="King County">
      <a:dk1>
        <a:srgbClr val="10222F"/>
      </a:dk1>
      <a:lt1>
        <a:srgbClr val="FFFFFF"/>
      </a:lt1>
      <a:dk2>
        <a:srgbClr val="0B3C5D"/>
      </a:dk2>
      <a:lt2>
        <a:srgbClr val="EAF2F6"/>
      </a:lt2>
      <a:accent1>
        <a:srgbClr val="F28F3B"/>
      </a:accent1>
      <a:accent2>
        <a:srgbClr val="1C7293"/>
      </a:accent2>
      <a:accent3>
        <a:srgbClr val="7FB7BE"/>
      </a:accent3>
      <a:accent4>
        <a:srgbClr val="D95D39"/>
      </a:accent4>
      <a:accent5>
        <a:srgbClr val="5C6B73"/>
      </a:accent5>
      <a:accent6>
        <a:srgbClr val="2E8B57"/>
      </a:accent6>
      <a:hlink>
        <a:srgbClr val="1C7293"/>
      </a:hlink>
      <a:folHlink>
        <a:srgbClr val="5C6B73"/>
      </a:folHlink>
    </a:clrScheme>
    <a:fontScheme name="King Coun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King County House Prices: Refactoring Project</dc:title>
  <dc:subject>PptxGenJS Presentation</dc:subject>
  <dc:creator>Michel Mghames</dc:creator>
  <cp:lastModifiedBy>Michel Mghames</cp:lastModifiedBy>
  <cp:revision>1</cp:revision>
  <dcterms:created xsi:type="dcterms:W3CDTF">2026-10-27T13:40:58Z</dcterms:created>
  <dcterms:modified xsi:type="dcterms:W3CDTF">2026-10-27T13:40:58Z</dcterms:modified>
</cp:coreProperties>
</file>